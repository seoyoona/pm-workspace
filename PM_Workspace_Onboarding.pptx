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572000"/>
            <a:ext cx="12191695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Pretendard"/>
              </a:defRPr>
            </a:pPr>
            <a:r>
              <a:t>PM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Pretendard"/>
              </a:defRPr>
            </a:pPr>
            <a:r>
              <a:t>온보딩 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55555"/>
                </a:solidFill>
                <a:latin typeface="Pretendard"/>
              </a:defRPr>
            </a:pPr>
            <a:r>
              <a:t>Claude Code로 PM 반복 업무 자동화하기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Pretendard"/>
              </a:defRPr>
            </a:pPr>
            <a:r>
              <a:t>설치부터 실무 사용까지  ·  10개 스킬  ·  바로 따라하기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왜 만들었는가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같은 내용을 매번 3번 다른 형태로 쓰고 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600" b="1">
                <a:solidFill>
                  <a:srgbClr val="2563EB"/>
                </a:solidFill>
                <a:latin typeface="Pretendard"/>
              </a:defRPr>
            </a:pPr>
            <a:r>
              <a:t>Before — 수동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8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미팅 후 노션 정리: 30분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개발팀 Teams 메시지 작성: 15분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고객 카톡 작성: 10분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8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고객 요청 → 영어 스펙 변환: 20분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주간 리포트: 매주 처음부터 작성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600" b="1">
                <a:solidFill>
                  <a:srgbClr val="2563EB"/>
                </a:solidFill>
                <a:latin typeface="Pretendard"/>
              </a:defRPr>
            </a:pPr>
            <a:r>
              <a:t>After — 자동화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8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/meeting-note 한 번이면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2563EB"/>
                </a:solidFill>
                <a:latin typeface="Pretendard"/>
              </a:defRPr>
            </a:pPr>
            <a:r>
              <a:t>→ 노션 미팅노트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2563EB"/>
                </a:solidFill>
                <a:latin typeface="Pretendard"/>
              </a:defRPr>
            </a:pPr>
            <a:r>
              <a:t>→ 개발팀 영어 메시지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2563EB"/>
                </a:solidFill>
                <a:latin typeface="Pretendard"/>
              </a:defRPr>
            </a:pPr>
            <a:r>
              <a:t>→ 고객 한국어 카톡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동시에 생성됩니다.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8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A1A1A"/>
                </a:solidFill>
                <a:latin typeface="Pretendard"/>
              </a:defRPr>
            </a:pPr>
            <a:r>
              <a:t>복붙해서 바로 전송 가능.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설치 &amp; 세팅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3단계만 따라하면 바로 사용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200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82296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Claude Code 설치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Pretendard"/>
              </a:defRPr>
            </a:pPr>
            <a:r>
              <a:t>brew install claude-code</a:t>
            </a:r>
            <a:br/>
            <a:r>
              <a:t>또는 웹에서 다운로드</a:t>
            </a:r>
            <a:br/>
            <a:r>
              <a:t>→ 터미널에서 claude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3200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39" y="1828800"/>
            <a:ext cx="82296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워크스페이스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Pretendard"/>
              </a:defRPr>
            </a:pPr>
            <a:r>
              <a:t>git clone [repo URL]</a:t>
            </a:r>
            <a:br/>
            <a:r>
              <a:t>cd yoona-workspace</a:t>
            </a:r>
            <a:br/>
            <a:r>
              <a:t>claude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383280" cy="3200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82296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MCP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Pretendard"/>
              </a:defRPr>
            </a:pPr>
            <a:r>
              <a:t>/mcp 입력</a:t>
            </a:r>
            <a:br/>
            <a:r>
              <a:t>→ Notion 인증 승인</a:t>
            </a:r>
            <a:br/>
            <a:r>
              <a:t>→ connected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300" b="1">
                <a:solidFill>
                  <a:srgbClr val="059669"/>
                </a:solidFill>
                <a:latin typeface="Pretendard"/>
              </a:defRPr>
            </a:pPr>
            <a:r>
              <a:t>✅ 세팅 완료 체크:  ☐ Claude Code 실행됨    ☐ yoona-workspace 폴더에서 실행    ☐ Notion MCP 연결됨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meeting-note = source of truth → 나머지는 downstream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/meeting-note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017520"/>
            <a:ext cx="320040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Pretendard"/>
              </a:defRPr>
            </a:pPr>
            <a:r>
              <a:t>/dev-chat → 개발팀 (EN)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017520"/>
            <a:ext cx="320040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Pretendard"/>
              </a:defRPr>
            </a:pPr>
            <a:r>
              <a:t>/client-chat → 고객사 (KR)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347472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/to-spec — 큰 요청 → 스펙+태스크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4206240"/>
            <a:ext cx="347472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/qa-request — 검수/전달 요청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06240"/>
            <a:ext cx="347472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/new-project — 프로젝트 셋업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347472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/weekly-report — 주간 리포트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4800600"/>
            <a:ext cx="347472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19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/srs-translate — SRS 번역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00600"/>
            <a:ext cx="347472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/kickoff-prep — 킥오프 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미팅 후 정리 — /meeting-note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상황: 고객사 미팅 끝남. 러프한 메모가 있음.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실제 입력: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1A1A1A"/>
                </a:solidFill>
                <a:latin typeface="Courier New"/>
              </a:defRPr>
            </a:pPr>
            <a:r>
              <a:t>/meeting-note --client rck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1A1A1A"/>
                </a:solidFill>
                <a:latin typeface="Pretendard"/>
              </a:defRPr>
            </a:pPr>
            <a:r>
              <a:t>대표님이 질문지 삭제 안 된다고 하셨음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1A1A1A"/>
                </a:solidFill>
                <a:latin typeface="Pretendard"/>
              </a:defRPr>
            </a:pPr>
            <a:r>
              <a:t>외부 QA 금요일부로 종료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1A1A1A"/>
                </a:solidFill>
                <a:latin typeface="Pretendard"/>
              </a:defRPr>
            </a:pPr>
            <a:r>
              <a:t>질문지 CRUD 안정화 최우선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1A1A1A"/>
                </a:solidFill>
                <a:latin typeface="Pretendard"/>
              </a:defRPr>
            </a:pPr>
            <a:r>
              <a:t>매니저 계정 버그 — 로그인 안됨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0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2563EB"/>
                </a:solidFill>
                <a:latin typeface="Pretendard"/>
              </a:defRPr>
            </a:pPr>
            <a:r>
              <a:t>→ 러프한 메모도 OK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2563EB"/>
                </a:solidFill>
                <a:latin typeface="Pretendard"/>
              </a:defRPr>
            </a:pPr>
            <a:r>
              <a:t>→ 녹취 텍스트 파일도 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029200" cy="43891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결과 (3개 동시 출력):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A1A1A"/>
                </a:solidFill>
                <a:latin typeface="Pretendard"/>
              </a:defRPr>
            </a:pPr>
            <a:r>
              <a:t>━━ Part 1: 미팅 노트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555555"/>
                </a:solidFill>
                <a:latin typeface="Pretendard"/>
              </a:defRPr>
            </a:pPr>
            <a:r>
              <a:t>    → Notion에 자동 저장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A1A1A"/>
                </a:solidFill>
                <a:latin typeface="Pretendard"/>
              </a:defRPr>
            </a:pPr>
            <a:r>
              <a:t>━━ Part 2: 개발팀 전달용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555555"/>
                </a:solidFill>
                <a:latin typeface="Pretendard"/>
              </a:defRPr>
            </a:pPr>
            <a:r>
              <a:t>    → Teams에 복붙 (영어)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1A1A1A"/>
                </a:solidFill>
                <a:latin typeface="Pretendard"/>
              </a:defRPr>
            </a:pPr>
            <a:r>
              <a:t>━━ Part 3: 고객사 전달용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555555"/>
                </a:solidFill>
                <a:latin typeface="Pretendard"/>
              </a:defRPr>
            </a:pPr>
            <a:r>
              <a:t>    → 카톡에 복붙 (한국어)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8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300" b="1">
                <a:solidFill>
                  <a:srgbClr val="2563EB"/>
                </a:solidFill>
                <a:latin typeface="Pretendard"/>
              </a:defRPr>
            </a:pPr>
            <a:r>
              <a:t>Part 1이 source of truth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2563EB"/>
                </a:solidFill>
                <a:latin typeface="Pretendard"/>
              </a:defRPr>
            </a:pPr>
            <a:r>
              <a:t>Part 2, 3은 자동 추출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개발팀에 전달 — /dev-chat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고객 메시지를 복붙하면 영어 구현 브리프가 나옵니다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Light 모드 — 단순 전달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100" b="1">
                <a:solidFill>
                  <a:srgbClr val="555555"/>
                </a:solidFill>
                <a:latin typeface="Pretendard"/>
              </a:defRPr>
            </a:pPr>
            <a:r>
              <a:t>입력: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/dev-chat --Booktails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이미지 샘플 오늘 보내드리고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나머지는 다음주에 보내드린대요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100" b="1">
                <a:solidFill>
                  <a:srgbClr val="555555"/>
                </a:solidFill>
                <a:latin typeface="Pretendard"/>
              </a:defRPr>
            </a:pPr>
            <a:r>
              <a:t>출력: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📌 [Booktails] Image assets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— batch 1 received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The client is sending a few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sample images today...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Let me know if anything is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029200" cy="4114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Standard 모드 — 복잡한 내용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100" b="1">
                <a:solidFill>
                  <a:srgbClr val="555555"/>
                </a:solidFill>
                <a:latin typeface="Pretendard"/>
              </a:defRPr>
            </a:pPr>
            <a:r>
              <a:t>입력: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/dev-chat --RCK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RCK 미팅 노트 기반으로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100" b="1">
                <a:solidFill>
                  <a:srgbClr val="555555"/>
                </a:solidFill>
                <a:latin typeface="Pretendard"/>
              </a:defRPr>
            </a:pPr>
            <a:r>
              <a:t>출력: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📌 [RCK] Meeting follow-up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Courier New"/>
              </a:defRPr>
            </a:pPr>
            <a:r>
              <a:t>Critical context: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- Manager account bug...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Courier New"/>
              </a:defRPr>
            </a:pPr>
            <a:r>
              <a:t>This round: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- Questionnaire stability...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- Limit max options to 7...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  <a:latin typeface="Pretendard"/>
              </a:defRPr>
            </a:pPr>
            <a:r>
              <a:t>→ 메시지 무게를 자동 감지하여 Light / Standard 모드로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고객에게 전달 — /client-chat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개발팀 영어 → 고객 카톡 한국어  |  질문/업데이트/혼합 자동 감지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질문형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100" b="1">
                <a:solidFill>
                  <a:srgbClr val="555555"/>
                </a:solidFill>
                <a:latin typeface="Pretendard"/>
              </a:defRPr>
            </a:pPr>
            <a:r>
              <a:t>입력: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/client-chat koboom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Should payout be per-order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or monthly?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100" b="1">
                <a:solidFill>
                  <a:srgbClr val="555555"/>
                </a:solidFill>
                <a:latin typeface="Pretendard"/>
              </a:defRPr>
            </a:pPr>
            <a:r>
              <a:t>출력: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안녕하세요, 개발 진행 중 확인드릴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사항이 있어 연락드립니다!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** 확인 요청 사항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1. 판매자 정산을 건별로 할지,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   월별로 합산할지 확인 부탁드립니다.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2. 최소 정산 금액 기준이 있는지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029200" cy="4114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업데이트형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100" b="1">
                <a:solidFill>
                  <a:srgbClr val="555555"/>
                </a:solidFill>
                <a:latin typeface="Pretendard"/>
              </a:defRPr>
            </a:pPr>
            <a:r>
              <a:t>출력: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안녕하세요, 진행 상황 공유드립니다!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현재 전체 약 65% 진행되었습니다.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** 완료된 사항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- 회원가입/로그인 완료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- 결제 연동 완료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** 진행 중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- AI 활동지 생성 — 품질 검증 중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** 다음 단계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- 활동지 생성 이력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  <a:latin typeface="Pretendard"/>
              </a:defRPr>
            </a:pPr>
            <a:r>
              <a:t>→ 고객별 톤 자동 적용  |  기술 용어 → 비즈니스 언어 변환  |  QA 요청은 /qa-request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고객 요청 — 어떤 스킬을 쓸까?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요청 크기에 따라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2000" b="1">
                <a:solidFill>
                  <a:srgbClr val="2563EB"/>
                </a:solidFill>
                <a:latin typeface="Pretendard"/>
              </a:defRPr>
            </a:pPr>
            <a:r>
              <a:t>/dev-chat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555555"/>
                </a:solidFill>
                <a:latin typeface="Pretendard"/>
              </a:defRPr>
            </a:pPr>
            <a:r>
              <a:t>자잘한 요청 / 빠른 전달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0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• Teams 메시지 1개 생성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• Notion 저장 없음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• 바로 복붙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0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555555"/>
                </a:solidFill>
                <a:latin typeface="Pretendard"/>
              </a:defRPr>
            </a:pPr>
            <a:r>
              <a:t>예: "비번 규칙 변경해달래요"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555555"/>
                </a:solidFill>
                <a:latin typeface="Pretendard"/>
              </a:defRPr>
            </a:pPr>
            <a:r>
              <a:t>예: "이 버그 수정 확인해주세요"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2000" b="1">
                <a:solidFill>
                  <a:srgbClr val="2563EB"/>
                </a:solidFill>
                <a:latin typeface="Pretendard"/>
              </a:defRPr>
            </a:pPr>
            <a:r>
              <a:t>/to-spec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555555"/>
                </a:solidFill>
                <a:latin typeface="Pretendard"/>
              </a:defRPr>
            </a:pPr>
            <a:r>
              <a:t>큰 기능 / 변경사항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0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• 스펙 페이지 (Notion)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• 태스크 DB 항목들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• 각 태스크별 AC 포함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0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555555"/>
                </a:solidFill>
                <a:latin typeface="Pretendard"/>
              </a:defRPr>
            </a:pPr>
            <a:r>
              <a:t>예: "결제 시스템 연동해주세요"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555555"/>
                </a:solidFill>
                <a:latin typeface="Pretendard"/>
              </a:defRPr>
            </a:pPr>
            <a:r>
              <a:t>예: "회원 권한 체계 변경"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검수 요청 — /qa-request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개발 완료 후 고객에게 전달물 + 검수 요청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실제 입력: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Courier New"/>
              </a:defRPr>
            </a:pPr>
            <a:r>
              <a:t>/qa-request --client 21gram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작업 완료, zip파일 전달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노션 QA 링크 전달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세움터 로그인 정보 기입 후 시작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output 폴더에 엑셀 저장됨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크롬 필요, 네트워크 필요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0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555555"/>
                </a:solidFill>
                <a:latin typeface="Pretendard"/>
              </a:defRPr>
            </a:pPr>
            <a:r>
              <a:t>전달 유형 자동 감지: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555555"/>
                </a:solidFill>
                <a:latin typeface="Pretendard"/>
              </a:defRPr>
            </a:pPr>
            <a:r>
              <a:t>web | web+admin | apk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555555"/>
                </a:solidFill>
                <a:latin typeface="Pretendard"/>
              </a:defRPr>
            </a:pPr>
            <a:r>
              <a:t>program | testflight | mixed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029200" cy="43891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결과: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6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안녕하세요, 작업 완료되어 산출물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전달드리며 검수 요청드립니다.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[프로그램 파일]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- zip 다운로드 → exe 더블클릭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[사용 방법]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1. 로그인 정보 입력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2. 조회 조건 입력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3. 시작 → output에 엑셀 저장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4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[검수 페이지]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Pretendard"/>
              </a:defRPr>
            </a:pPr>
            <a:r>
              <a:t>- 노션 링크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새 프로젝트 — /new-project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한 번에 로컬 파일 + Notion DB + PM Workspace 셋업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400800" cy="3200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2563EB"/>
                </a:solidFill>
                <a:latin typeface="Courier New"/>
              </a:defRPr>
            </a:pPr>
            <a:r>
              <a:t>/new-project --client DSA --project DSA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8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500" b="1">
                <a:solidFill>
                  <a:srgbClr val="1A1A1A"/>
                </a:solidFill>
                <a:latin typeface="Pretendard"/>
              </a:defRPr>
            </a:pPr>
            <a:r>
              <a:t>자동 생성되는 것: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✅ clients/dsa/CLAUDE.md — 고객사 컨텍스트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✅ glossary/dsa.md — 용어집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✅ 3개 Notion DB에 프로젝트 옵션 추가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✅ PM Workspace에 토글 + linked view (필터 적용)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이후 흐름:  /new-project  →  /srs-translate (SRS 번역)  →  /kickoff-prep (킥오프 준비)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Pretendard"/>
              </a:defRPr>
            </a:pPr>
            <a:r>
              <a:t>이 상황이면 → 이 스킬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502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미팅 끝났다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276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/meeting-note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502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개발팀에 전달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6276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/dev-chat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530352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고객에게 전달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2677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/client-chat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94560"/>
            <a:ext cx="530352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67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고객 요청이 크다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677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/to-spec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39"/>
            <a:ext cx="5303520" cy="502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077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검수 요청이다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9077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/qa-request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34639"/>
            <a:ext cx="5303520" cy="502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9077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주간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9077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/weekly-report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474720"/>
            <a:ext cx="530352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47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새 프로젝트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5478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/new-project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74720"/>
            <a:ext cx="530352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547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SRS 번역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5478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/srs-translate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14800"/>
            <a:ext cx="5303520" cy="502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87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킥오프 준비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187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/kickoff-prep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14800"/>
            <a:ext cx="5303520" cy="502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187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Pretendard"/>
              </a:defRPr>
            </a:pPr>
            <a:r>
              <a:t>이슈 티켓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187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/issue-ticket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212080"/>
            <a:ext cx="1069848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Pretendard"/>
              </a:defRPr>
            </a:pPr>
            <a:r>
              <a:t>모든 스킬 공통:  /스킬명 [내용] --client [고객사명]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389120"/>
            <a:ext cx="12191695" cy="24688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Pretendard"/>
              </a:defRPr>
            </a:pPr>
            <a:r>
              <a:t>시작해봅시다!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600" b="1">
                <a:solidFill>
                  <a:srgbClr val="1A1A1A"/>
                </a:solidFill>
                <a:latin typeface="Pretendard"/>
              </a:defRPr>
            </a:pPr>
            <a:r>
              <a:t>오늘 바로 해볼 것: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500" b="0">
                <a:solidFill>
                  <a:srgbClr val="1A1A1A"/>
                </a:solidFill>
                <a:latin typeface="Pretendard"/>
              </a:defRPr>
            </a:pPr>
            <a:r>
              <a:t>1. /dev-chat — 고객 메시지 하나 복붙해서 돌려보기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500" b="0">
                <a:solidFill>
                  <a:srgbClr val="1A1A1A"/>
                </a:solidFill>
                <a:latin typeface="Pretendard"/>
              </a:defRPr>
            </a:pPr>
            <a:r>
              <a:t>2. /client-chat — 개발팀 메시지 하나 변환해보기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500" b="1">
                <a:solidFill>
                  <a:srgbClr val="1A1A1A"/>
                </a:solidFill>
                <a:latin typeface="Pretendard"/>
              </a:defRPr>
            </a:pPr>
            <a:r>
              <a:t>참고 문서: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555555"/>
                </a:solidFill>
                <a:latin typeface="Pretendard"/>
              </a:defRPr>
            </a:pPr>
            <a:r>
              <a:t>📖 가이드: Notion PM Workspace &gt; Guide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555555"/>
                </a:solidFill>
                <a:latin typeface="Pretendard"/>
              </a:defRPr>
            </a:pPr>
            <a:r>
              <a:t>🏗️ 설계: Notion PM Workspace &gt; Construction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800" b="0">
                <a:solidFill>
                  <a:srgbClr val="1A1A1A"/>
                </a:solidFill>
                <a:latin typeface="Pretendard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555555"/>
                </a:solidFill>
                <a:latin typeface="Pretendard"/>
              </a:defRPr>
            </a:pPr>
            <a:r>
              <a:t>문제 생기면: GitHub Issues 또는 PM 채널에 공유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Pretendard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