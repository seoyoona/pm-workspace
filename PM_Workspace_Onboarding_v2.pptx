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754880"/>
            <a:ext cx="12191695" cy="21031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11827"/>
                </a:solidFill>
                <a:latin typeface="Pretendard"/>
              </a:defRPr>
            </a:pPr>
            <a:r>
              <a:t>PM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Pretendard"/>
              </a:defRPr>
            </a:pPr>
            <a:r>
              <a:t>온보딩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Pretendard"/>
              </a:defRPr>
            </a:pPr>
            <a:r>
              <a:t>미팅 정리 · 개발팀 전달 · 고객 메시지 · 스펙 문서 — 한번에.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Claude Code 기반  |  Notion 자동 연동  |  복붙 가능한 산출물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미팅 끝나면 매번 이렇게 하고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노션 미팅노트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Pretendard"/>
              </a:defRPr>
            </a:pPr>
            <a:r>
              <a:t>30분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10896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개발팀 Teams 메시지 (EN)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Pretendard"/>
              </a:defRPr>
            </a:pPr>
            <a:r>
              <a:t>15분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10896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고객 카톡 메시지 (KR)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Pretendard"/>
              </a:defRPr>
            </a:pPr>
            <a:r>
              <a:t>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같은 내용을 3번 다른 형태로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563EB"/>
                </a:solidFill>
                <a:latin typeface="Pretendard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7315200" cy="1645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526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Pretendard"/>
              </a:defRPr>
            </a:pPr>
            <a:r>
              <a:t>/meeting-note  한 번이면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120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100"/>
              </a:spcAft>
              <a:defRPr sz="1500" b="0">
                <a:solidFill>
                  <a:srgbClr val="4B5563"/>
                </a:solidFill>
                <a:latin typeface="Pretendard"/>
              </a:defRPr>
            </a:pPr>
            <a:r>
              <a:t>→ 노션 미팅노트 (자동 저장)  +  개발팀 메시지 (EN)  +  고객 카톡 (KR)  동시 생성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복붙해서 바로 전송.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meeting-note가 source of truth — 나머지는 여기서 추출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011680"/>
            <a:ext cx="15367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/meeting-note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Pretendard"/>
              </a:defRPr>
            </a:pPr>
            <a:r>
              <a:t>미팅 메모 → 구조화된 실행 브리프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4114800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Pretendard"/>
              </a:defRPr>
            </a:pPr>
            <a:r>
              <a:t>/dev-chat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→ 개발팀 Teams 메시지 (EN)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114800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Pretendard"/>
              </a:defRPr>
            </a:pPr>
            <a:r>
              <a:t>/client-chat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→ 고객 카톡 메시지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563EB"/>
                </a:solidFill>
                <a:latin typeface="Pretendard"/>
              </a:defRPr>
            </a:pPr>
            <a:r>
              <a:t>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563EB"/>
                </a:solidFill>
                <a:latin typeface="Pretendard"/>
              </a:defRPr>
            </a:pPr>
            <a:r>
              <a:t>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5563"/>
                </a:solidFill>
                <a:latin typeface="Pretendard"/>
              </a:defRPr>
            </a:pPr>
            <a:r>
              <a:t>독립 워크플로우: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80"/>
            <a:ext cx="2560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00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/to-spec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Pretendard"/>
              </a:defRPr>
            </a:pPr>
            <a:r>
              <a:t>큰 요청 → 스펙+태스크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754880"/>
            <a:ext cx="2560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800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/qa-request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Pretendard"/>
              </a:defRPr>
            </a:pPr>
            <a:r>
              <a:t>검수/전달 요청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754880"/>
            <a:ext cx="2560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800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/new-project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Pretendard"/>
              </a:defRPr>
            </a:pPr>
            <a:r>
              <a:t>프로젝트 셋업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4754880"/>
            <a:ext cx="256032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4800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/weekly-report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Pretendard"/>
              </a:defRPr>
            </a:pPr>
            <a:r>
              <a:t>주간 리포트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1270000" cy="29260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Workflow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Pretendard"/>
              </a:defRPr>
            </a:pPr>
            <a:r>
              <a:t>고객 미팅이 끝났을 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Pretendard"/>
              </a:defRPr>
            </a:pPr>
            <a:r>
              <a:t>PM이 입력하는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100"/>
              </a:spcAft>
              <a:defRPr sz="1100" b="0">
                <a:solidFill>
                  <a:srgbClr val="2563EB"/>
                </a:solidFill>
                <a:latin typeface="Courier New"/>
              </a:defRPr>
            </a:pPr>
            <a:r>
              <a:t>/meeting-note --client rck</a:t>
            </a:r>
          </a:p>
          <a:p>
            <a:pPr>
              <a:lnSpc>
                <a:spcPts val="52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Pretendard"/>
              </a:defRPr>
            </a:pPr>
            <a:r>
              <a:t>대표님이 질문지 삭제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Pretendard"/>
              </a:defRPr>
            </a:pPr>
            <a:r>
              <a:t>안 된다고 하셨음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Pretendard"/>
              </a:defRPr>
            </a:pPr>
            <a:r>
              <a:t>외부 QA 금요일 종료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Pretendard"/>
              </a:defRPr>
            </a:pPr>
            <a:r>
              <a:t>질문지 안정화 최우선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Pretendard"/>
              </a:defRPr>
            </a:pPr>
            <a:r>
              <a:t>매니저 계정 버그</a:t>
            </a:r>
          </a:p>
          <a:p>
            <a:pPr>
              <a:lnSpc>
                <a:spcPts val="780"/>
              </a:lnSpc>
              <a:spcAft>
                <a:spcPts val="100"/>
              </a:spcAft>
              <a:defRPr sz="6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430"/>
              </a:lnSpc>
              <a:spcAft>
                <a:spcPts val="100"/>
              </a:spcAft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러프한 메모 OK</a:t>
            </a:r>
          </a:p>
          <a:p>
            <a:pPr>
              <a:lnSpc>
                <a:spcPts val="1430"/>
              </a:lnSpc>
              <a:spcAft>
                <a:spcPts val="100"/>
              </a:spcAft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녹취 텍스트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563EB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645920"/>
            <a:ext cx="758952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73736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미팅 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Notion 자동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743200"/>
            <a:ext cx="758952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283464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개발팀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Teams 복붙 (EN)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840480"/>
            <a:ext cx="758952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393192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고객 카톡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카톡 복붙 (KR)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Part 1이 source of truth — Part 2, 3은 여기서 자동 추출됩니다.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1270000" cy="29260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Workflow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Pretendard"/>
              </a:defRPr>
            </a:pPr>
            <a:r>
              <a:t>고객 요청을 받았을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요청 크기에 따라 다른 스킬을 사용합니다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고객 요청이 들어옴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Pretendard"/>
              </a:defRPr>
            </a:pPr>
            <a:r>
              <a:t>↙          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720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880360"/>
            <a:ext cx="11811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/dev-chat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자잘한 요청 · 빠른 전달</a:t>
            </a:r>
          </a:p>
          <a:p>
            <a:pPr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Teams 메시지 1개 생성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Notion 저장 없음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바로 복붙 가능</a:t>
            </a:r>
          </a:p>
          <a:p>
            <a:pPr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4B5563"/>
                </a:solidFill>
                <a:latin typeface="Pretendard"/>
              </a:defRPr>
            </a:pPr>
            <a:r>
              <a:t>"비번 규칙 변경해달래요"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4B5563"/>
                </a:solidFill>
                <a:latin typeface="Pretendard"/>
              </a:defRPr>
            </a:pPr>
            <a:r>
              <a:t>"이미지 오늘 보내준다고 해요"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029200" cy="3200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8036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/to-spec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111827"/>
                </a:solidFill>
                <a:latin typeface="Pretendard"/>
              </a:defRPr>
            </a:pPr>
            <a:r>
              <a:t>큰 기능 · 변경사항</a:t>
            </a:r>
          </a:p>
          <a:p>
            <a:pPr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스펙 페이지 → Notion 저장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태스크 DB 자동 생성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• 각 태스크별 AC 포함</a:t>
            </a:r>
          </a:p>
          <a:p>
            <a:pPr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4B5563"/>
                </a:solidFill>
                <a:latin typeface="Pretendard"/>
              </a:defRPr>
            </a:pPr>
            <a:r>
              <a:t>"결제 시스템 연동해주세요"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4B5563"/>
                </a:solidFill>
                <a:latin typeface="Pretendard"/>
              </a:defRPr>
            </a:pPr>
            <a:r>
              <a:t>"회원 권한 체계 변경해야 합니다"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1270000" cy="29260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Workflow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Pretendard"/>
              </a:defRPr>
            </a:pPr>
            <a:r>
              <a:t>개발팀 메시지를 고객에게 전달할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/client-chat — 질문 / 업데이트 / 혼합을 자동 감지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9728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질문형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4B5563"/>
                </a:solidFill>
                <a:latin typeface="Pretendard"/>
              </a:defRPr>
            </a:pPr>
            <a:r>
              <a:t>입력:</a:t>
            </a:r>
          </a:p>
          <a:p>
            <a:pPr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111827"/>
                </a:solidFill>
                <a:latin typeface="Courier New"/>
              </a:defRPr>
            </a:pPr>
            <a:r>
              <a:t>Should payout be per-order or monthly?</a:t>
            </a:r>
          </a:p>
          <a:p>
            <a:pPr>
              <a:lnSpc>
                <a:spcPts val="719"/>
              </a:lnSpc>
              <a:spcAft>
                <a:spcPts val="100"/>
              </a:spcAft>
              <a:defRPr sz="6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4B5563"/>
                </a:solidFill>
                <a:latin typeface="Pretendard"/>
              </a:defRPr>
            </a:pPr>
            <a:r>
              <a:t>출력 (카톡 복붙):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안녕하세요, 개발 진행 중 확인드릴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사항이 있어 연락드립니다!</a:t>
            </a:r>
          </a:p>
          <a:p>
            <a:pPr>
              <a:lnSpc>
                <a:spcPts val="48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** 확인 요청 사항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1. 판매자 정산을 건별로 할지,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   월별로 합산할지 확인 부탁드립니다.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0972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업데이트형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4B5563"/>
                </a:solidFill>
                <a:latin typeface="Pretendard"/>
              </a:defRPr>
            </a:pPr>
            <a:r>
              <a:t>출력 (카톡 복붙):</a:t>
            </a:r>
          </a:p>
          <a:p>
            <a:pPr>
              <a:lnSpc>
                <a:spcPts val="48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안녕하세요, 진행 상황 공유드립니다!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현재 전체 약 65% 진행되었습니다.</a:t>
            </a:r>
          </a:p>
          <a:p>
            <a:pPr>
              <a:lnSpc>
                <a:spcPts val="48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** 완료된 사항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- 회원가입/로그인 완료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- 결제 연동 완료</a:t>
            </a:r>
          </a:p>
          <a:p>
            <a:pPr>
              <a:lnSpc>
                <a:spcPts val="48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** 다음 단계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- 활동지 생성 이력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retendard"/>
              </a:defRPr>
            </a:pPr>
            <a:r>
              <a:t>고객별 톤 자동 적용  |  기술 용어 → 비즈니스 언어 자동 변환  |  검수 요청은 별도 워크플로우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1270000" cy="29260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Workflow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Pretendard"/>
              </a:defRPr>
            </a:pPr>
            <a:r>
              <a:t>검수 요청 — 별도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/qa-request — 전달물 유형을 자동 감지하여 구조화된 검수 요청 메시지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5720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왜 /client-chat과 분리?</a:t>
            </a:r>
          </a:p>
          <a:p>
            <a:pPr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/client-chat = 일반 커뮤니케이션 (질문/업데이트)</a:t>
            </a:r>
          </a:p>
          <a:p>
            <a:pPr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/qa-request = 링크+계정+파일+가이드 구조화 패키지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5563"/>
                </a:solidFill>
                <a:latin typeface="Pretendard"/>
              </a:defRPr>
            </a:pPr>
            <a:r>
              <a:t>전달 유형 자동 감지: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4884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762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서비스 링크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68880"/>
            <a:ext cx="11811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web+admin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963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서비스 + 어드민 계정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8892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apk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816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안드로이드 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10972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136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zip/exe 파일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429000"/>
            <a:ext cx="12700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testflight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56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iOS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10515600" cy="2926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100"/>
              </a:spcAft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실제 출력 예시 (program 유형):</a:t>
            </a:r>
          </a:p>
          <a:p>
            <a:pPr>
              <a:lnSpc>
                <a:spcPts val="52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69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안녕하세요, 작업 완료되어 산출물 전달드리며 검수 요청드립니다.</a:t>
            </a:r>
          </a:p>
          <a:p>
            <a:pPr>
              <a:lnSpc>
                <a:spcPts val="520"/>
              </a:lnSpc>
              <a:spcAft>
                <a:spcPts val="100"/>
              </a:spcAft>
              <a:defRPr sz="4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690"/>
              </a:lnSpc>
              <a:spcAft>
                <a:spcPts val="1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[프로그램 파일]</a:t>
            </a:r>
          </a:p>
          <a:p>
            <a:pPr>
              <a:lnSpc>
                <a:spcPts val="169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- 첨부된 zip 파일 다운로드 → exe 더블클릭</a:t>
            </a:r>
          </a:p>
          <a:p>
            <a:pPr>
              <a:lnSpc>
                <a:spcPts val="1690"/>
              </a:lnSpc>
              <a:spcAft>
                <a:spcPts val="100"/>
              </a:spcAft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[사용 방법]</a:t>
            </a:r>
          </a:p>
          <a:p>
            <a:pPr>
              <a:lnSpc>
                <a:spcPts val="1690"/>
              </a:lnSpc>
              <a:spcAft>
                <a:spcPts val="100"/>
              </a:spcAft>
              <a:defRPr sz="1300" b="0">
                <a:solidFill>
                  <a:srgbClr val="111827"/>
                </a:solidFill>
                <a:latin typeface="Pretendard"/>
              </a:defRPr>
            </a:pPr>
            <a:r>
              <a:t>1. 로그인 정보 입력  2. 조회 조건 입력  3. 시작 → output 폴더에 엑셀 저장</a:t>
            </a:r>
          </a:p>
          <a:p>
            <a:pPr>
              <a:lnSpc>
                <a:spcPts val="1560"/>
              </a:lnSpc>
              <a:spcAft>
                <a:spcPts val="100"/>
              </a:spcAft>
              <a:defRPr sz="1200" b="0">
                <a:solidFill>
                  <a:srgbClr val="4B5563"/>
                </a:solidFill>
                <a:latin typeface="Pretendard"/>
              </a:defRPr>
            </a:pPr>
            <a:r>
              <a:t>[검수 페이지]  - 노션 링크  |  [참고사항]  - 크롬 필요, 네트워크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새 프로젝트 셋업 — /new-project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한 번 실행하면 로컬 파일 + Notion DB + PM Workspace 뷰까지 자동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✅  clients/dsa/CLAUDE.md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고객사 컨텍스트 (톤, 도메인, 담당자)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10058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✅  glossary/dsa.md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용어집 (KR ↔ EN 매핑)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1005840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✅  Notion DB ×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프로젝트/클라이언트 옵션 자동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80"/>
            <a:ext cx="10058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✅  PM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토글 + linked view (필터 적용)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이후 흐름:   /new-project  →  /srs-translate (SRS 번역)  →  /kickoff-prep (킥오프 준비)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Pretendard"/>
              </a:defRPr>
            </a:pPr>
            <a:r>
              <a:t>이 상황이면 → 이 스킬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120640" cy="53035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미팅 끝났다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/meeting-note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120640" cy="53035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개발팀에 전달해야 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/dev-chat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12848"/>
            <a:ext cx="5120640" cy="53035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고객에게 전달해야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042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/client-chat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12848"/>
            <a:ext cx="5120640" cy="53035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04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고객 요청이 크다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3042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/to-spec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71215"/>
            <a:ext cx="5120640" cy="53035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96265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검수/전달 요청이다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6265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/qa-request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71215"/>
            <a:ext cx="5120640" cy="53035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96265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주간 보고해야 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96265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/weekly-report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529584"/>
            <a:ext cx="5120640" cy="53035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621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새 프로젝트가 들어왔다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6210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/new-project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29584"/>
            <a:ext cx="5120640" cy="53035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621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SRS 번역이 필요하다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6210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/srs-translate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87952"/>
            <a:ext cx="5120640" cy="53035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Pretendard"/>
              </a:defRPr>
            </a:pPr>
            <a:r>
              <a:t>킥오프를 준비해야 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2793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/kickoff-prep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212080"/>
            <a:ext cx="1033272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/스킬명  [내용]  --client  [고객사명]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0"/>
            <a:ext cx="12191695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11827"/>
                </a:solidFill>
                <a:latin typeface="Pretendard"/>
              </a:defRPr>
            </a:pPr>
            <a:r>
              <a:t>지금 바로 시작해보세요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2563EB"/>
                </a:solidFill>
                <a:latin typeface="Pretendard"/>
              </a:defRPr>
            </a:pPr>
            <a:r>
              <a:t>오늘 해볼 것:</a:t>
            </a:r>
          </a:p>
          <a:p>
            <a:pPr>
              <a:lnSpc>
                <a:spcPts val="719"/>
              </a:lnSpc>
              <a:spcAft>
                <a:spcPts val="100"/>
              </a:spcAft>
              <a:defRPr sz="600" b="0">
                <a:solidFill>
                  <a:srgbClr val="111827"/>
                </a:solidFill>
                <a:latin typeface="Pretendard"/>
              </a:defRPr>
            </a:pPr>
          </a:p>
          <a:p>
            <a:pPr>
              <a:lnSpc>
                <a:spcPts val="1800"/>
              </a:lnSpc>
              <a:spcAft>
                <a:spcPts val="100"/>
              </a:spcAft>
              <a:defRPr sz="1500" b="0">
                <a:solidFill>
                  <a:srgbClr val="111827"/>
                </a:solidFill>
                <a:latin typeface="Pretendard"/>
              </a:defRPr>
            </a:pPr>
            <a:r>
              <a:t>1.  /dev-chat — 고객 메시지 하나 넣어보기</a:t>
            </a:r>
          </a:p>
          <a:p>
            <a:pPr>
              <a:lnSpc>
                <a:spcPts val="1800"/>
              </a:lnSpc>
              <a:spcAft>
                <a:spcPts val="100"/>
              </a:spcAft>
              <a:defRPr sz="1500" b="0">
                <a:solidFill>
                  <a:srgbClr val="111827"/>
                </a:solidFill>
                <a:latin typeface="Pretendard"/>
              </a:defRPr>
            </a:pPr>
            <a:r>
              <a:t>2.  /client-chat — 개발팀 메시지 하나 변환해보기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📖  가이드: Notion PM Workspace &gt; Guide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🏗️  설계: Notion PM Workspace &gt; Construction</a:t>
            </a:r>
          </a:p>
          <a:p>
            <a:pPr>
              <a:lnSpc>
                <a:spcPts val="1680"/>
              </a:lnSpc>
              <a:spcAft>
                <a:spcPts val="100"/>
              </a:spcAft>
              <a:defRPr sz="1400" b="0">
                <a:solidFill>
                  <a:srgbClr val="4B5563"/>
                </a:solidFill>
                <a:latin typeface="Pretendard"/>
              </a:defRPr>
            </a:pPr>
            <a:r>
              <a:t>💬  문제 생기면: GitHub Issues 또는 PM 채널에 공유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